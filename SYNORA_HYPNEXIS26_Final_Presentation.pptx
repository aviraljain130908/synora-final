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B27ABEB2-E2D6-8B5D-8C43-AD515931FF97}">
          <p14:sldIdLst>
            <p14:sldId id="256"/>
          </p14:sldIdLst>
        </p14:section>
        <p14:section name="Idea" id="{424F8A36-ACCB-3397-0AAB-0CB2C4908326}">
          <p14:sldIdLst>
            <p14:sldId id="257"/>
          </p14:sldIdLst>
        </p14:section>
        <p14:section name="Approach" id="{31124DFC-E20C-1ED4-B375-D41F266F42FE}">
          <p14:sldIdLst>
            <p14:sldId id="258"/>
            <p14:sldId id="259"/>
          </p14:sldIdLst>
        </p14:section>
        <p14:section name="Viability" id="{91BE2AC3-B619-7C48-B042-EB8D0232F76A}">
          <p14:sldIdLst>
            <p14:sldId id="260"/>
          </p14:sldIdLst>
        </p14:section>
        <p14:section name="Impact" id="{29995A27-38EA-056E-F972-2E7A1F9285D6}">
          <p14:sldIdLst>
            <p14:sldId id="261"/>
          </p14:sldIdLst>
        </p14:section>
        <p14:section name="Business" id="{F0599801-3B2B-D390-1AF0-755D83C156EC}">
          <p14:sldIdLst>
            <p14:sldId id="262"/>
          </p14:sldIdLst>
        </p14:section>
        <p14:section name="References" id="{15A8586F-328A-E5D8-5F10-90FA2904D36E}">
          <p14:sldIdLst>
            <p14:sldId id="263"/>
          </p14:sldIdLst>
        </p14:section>
        <p14:section name="Close" id="{01F624A0-4E19-FB90-EA64-AC0AB7BE0E6F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940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YPNEXIS_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YPNEXIS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1105163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26080" y="3657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300" dirty="0">
                <a:solidFill>
                  <a:srgbClr val="9CC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36-HOUR HACKATHON  |  24–25 OCTOBER 2026  |  MANIPAL UNIVERSITY JAIPUR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457200" y="6355080"/>
            <a:ext cx="11274552" cy="9144"/>
          </a:xfrm>
          <a:prstGeom prst="rect">
            <a:avLst/>
          </a:prstGeom>
          <a:solidFill>
            <a:srgbClr val="1E5BFF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6428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and Communications Engineering  •  Manipal University Jaipur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YPNEXIS_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100584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MANIPAL UNIVERSITY JAIPUR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and Communications Engineering</a:t>
            </a:r>
            <a:endParaRPr lang="en-US" sz="1200" dirty="0"/>
          </a:p>
        </p:txBody>
      </p:sp>
      <p:pic>
        <p:nvPicPr>
          <p:cNvPr id="4" name="Image 0" descr="HYPNEXIS 26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120640" cy="23302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526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36-HOUR HACKATHON  •  24–25 OCTOBER 2026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892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/>
            <a:r>
              <a:rPr lang="en-US" sz="1200" kern="0" spc="400">
                <a:solidFill>
                  <a:srgbClr val="F5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SYNORA  -  EVIDENCE-BACKED DATA ANALYSIS</a:t>
            </a:r>
            <a:endParaRPr lang="en-US" sz="1200" dirty="0">
              <a:solidFill>
                <a:srgbClr val="F5F9FF"/>
              </a:solidFill>
            </a:endParaRPr>
          </a:p>
        </p:txBody>
      </p:sp>
      <p:sp>
        <p:nvSpPr>
          <p:cNvPr id="7" name="Team details card"/>
          <p:cNvSpPr/>
          <p:nvPr/>
        </p:nvSpPr>
        <p:spPr>
          <a:xfrm>
            <a:off x="6949440" y="1371600"/>
            <a:ext cx="4754880" cy="4480560"/>
          </a:xfrm>
          <a:prstGeom prst="roundRect">
            <a:avLst>
              <a:gd name="adj" fmla="val 2449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223760" y="15544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/>
            <a:r>
              <a:rPr lang="en-US" sz="1300" b="1" kern="0" spc="200">
                <a:solidFill>
                  <a:srgbClr val="F5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1300" dirty="0">
              <a:solidFill>
                <a:srgbClr val="F5F9FF"/>
              </a:solidFill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7223760" y="180136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/>
            <a:r>
              <a:rPr lang="en-US" sz="17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BINDERS</a:t>
            </a:r>
            <a:endParaRPr lang="en-US" sz="1700" dirty="0">
              <a:solidFill>
                <a:srgbClr val="F5F9FF"/>
              </a:solidFill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7223760" y="22494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/>
            <a:r>
              <a:rPr lang="en-US" sz="1300" b="1" kern="0" spc="200">
                <a:solidFill>
                  <a:srgbClr val="F5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</a:t>
            </a:r>
            <a:endParaRPr lang="en-US" sz="1300" dirty="0">
              <a:solidFill>
                <a:srgbClr val="F5F9FF"/>
              </a:solidFill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7223760" y="249631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/>
            <a:r>
              <a:rPr lang="en-US" sz="17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UV19W 67A</a:t>
            </a:r>
            <a:endParaRPr lang="en-US" sz="1700" dirty="0">
              <a:solidFill>
                <a:srgbClr val="F5F9FF"/>
              </a:solidFill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7223760" y="2944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/>
            <a:r>
              <a:rPr lang="en-US" sz="1300" b="1" kern="0" spc="200">
                <a:solidFill>
                  <a:srgbClr val="F5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</a:t>
            </a:r>
            <a:endParaRPr lang="en-US" sz="1300" dirty="0">
              <a:solidFill>
                <a:srgbClr val="F5F9FF"/>
              </a:solidFill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7223760" y="319125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/>
            <a:r>
              <a:rPr lang="en-US" sz="17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AI-02</a:t>
            </a:r>
            <a:endParaRPr lang="en-US" sz="1700" dirty="0">
              <a:solidFill>
                <a:srgbClr val="F5F9FF"/>
              </a:solidFill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7223760" y="363931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/>
            <a:r>
              <a:rPr lang="en-US" sz="1300" b="1" kern="0" spc="200">
                <a:solidFill>
                  <a:srgbClr val="F5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</a:t>
            </a:r>
            <a:endParaRPr lang="en-US" sz="1300" dirty="0">
              <a:solidFill>
                <a:srgbClr val="F5F9FF"/>
              </a:solidFill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7223760" y="38862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/>
            <a:r>
              <a:rPr lang="en-US" sz="15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DATA-ANALYST AGENT ON MESSY DATABASES</a:t>
            </a:r>
            <a:endParaRPr lang="en-US" sz="1500" dirty="0">
              <a:solidFill>
                <a:srgbClr val="F5F9FF"/>
              </a:solidFill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7223760" y="433425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/>
            <a:r>
              <a:rPr lang="en-US" sz="1300" b="1" kern="0" spc="200">
                <a:solidFill>
                  <a:srgbClr val="F5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/ DOMAIN</a:t>
            </a:r>
            <a:endParaRPr lang="en-US" sz="1300" dirty="0">
              <a:solidFill>
                <a:srgbClr val="F5F9FF"/>
              </a:solidFill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7223760" y="458114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/>
            <a:r>
              <a:rPr lang="en-US" sz="17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MACHINE LEARNING</a:t>
            </a:r>
            <a:endParaRPr lang="en-US" sz="1700" dirty="0">
              <a:solidFill>
                <a:srgbClr val="F5F9FF"/>
              </a:solidFill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7223760" y="50292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/>
            <a:r>
              <a:rPr lang="en-US" sz="1300" b="1" kern="0" spc="200">
                <a:solidFill>
                  <a:srgbClr val="F5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300" dirty="0">
              <a:solidFill>
                <a:srgbClr val="F5F9FF"/>
              </a:solidFill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7223760" y="527608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/>
            <a:r>
              <a:rPr lang="en-US" sz="17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700" dirty="0">
              <a:solidFill>
                <a:srgbClr val="F5F9FF"/>
              </a:solidFill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hypnexismuj.com   |   @hypnexis.muj   |   hypnexis2026@muj.manipal.edu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/>
            <a:r>
              <a:rPr lang="en-US" sz="2800" b="1" kern="0" spc="200">
                <a:solidFill>
                  <a:srgbClr val="F5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SYNORA / EVIDENCE-BACKED DATA ANALYST</a:t>
            </a:r>
            <a:endParaRPr lang="en-US" sz="2800" dirty="0">
              <a:solidFill>
                <a:srgbClr val="F5F9FF"/>
              </a:solidFill>
            </a:endParaRPr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/>
            <a:r>
              <a:rPr lang="en-US" sz="10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BINDERS  |  UV19W 67A</a:t>
            </a:r>
            <a:endParaRPr lang="en-US" sz="1000" dirty="0">
              <a:solidFill>
                <a:srgbClr val="F5F9FF"/>
              </a:solidFill>
            </a:endParaRPr>
          </a:p>
        </p:txBody>
      </p:sp>
      <p:sp>
        <p:nvSpPr>
          <p:cNvPr id="4" name="Problem card"/>
          <p:cNvSpPr/>
          <p:nvPr/>
        </p:nvSpPr>
        <p:spPr>
          <a:xfrm>
            <a:off x="457200" y="169164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Problem head"/>
          <p:cNvSpPr txBox="1"/>
          <p:nvPr/>
        </p:nvSpPr>
        <p:spPr>
          <a:xfrm>
            <a:off x="73152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6" name="Problem body"/>
          <p:cNvSpPr txBox="1"/>
          <p:nvPr/>
        </p:nvSpPr>
        <p:spPr>
          <a:xfrm>
            <a:off x="731520" y="22860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en-US" sz="13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Correct tables and columns are hard to discover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3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Missing, duplicated, and inconsistent values distort analysis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3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Natural-language questions still need safe SQL and verification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3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 plausible wrong answer can be worse than no answer</a:t>
            </a:r>
            <a:endParaRPr lang="en-US" sz="1300" dirty="0">
              <a:solidFill>
                <a:srgbClr val="F5F9FF"/>
              </a:solidFill>
            </a:endParaRPr>
          </a:p>
        </p:txBody>
      </p:sp>
      <p:sp>
        <p:nvSpPr>
          <p:cNvPr id="7" name="Solution card"/>
          <p:cNvSpPr/>
          <p:nvPr/>
        </p:nvSpPr>
        <p:spPr>
          <a:xfrm>
            <a:off x="6245352" y="169164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Solution head"/>
          <p:cNvSpPr txBox="1"/>
          <p:nvPr/>
        </p:nvSpPr>
        <p:spPr>
          <a:xfrm>
            <a:off x="6519672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500" dirty="0"/>
          </a:p>
        </p:txBody>
      </p:sp>
      <p:sp>
        <p:nvSpPr>
          <p:cNvPr id="9" name="Solution body"/>
          <p:cNvSpPr txBox="1"/>
          <p:nvPr/>
        </p:nvSpPr>
        <p:spPr>
          <a:xfrm>
            <a:off x="6519672" y="22860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en-US" sz="13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Schema-aware question answering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3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Read-only, permission-aware query execution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3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Result validation before explanation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3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Evidence, provenance, and honest limitations</a:t>
            </a:r>
            <a:endParaRPr lang="en-US" sz="1300" dirty="0">
              <a:solidFill>
                <a:srgbClr val="F5F9FF"/>
              </a:solidFill>
            </a:endParaRPr>
          </a:p>
        </p:txBody>
      </p:sp>
      <p:sp>
        <p:nvSpPr>
          <p:cNvPr id="10" name="Visual card"/>
          <p:cNvSpPr/>
          <p:nvPr/>
        </p:nvSpPr>
        <p:spPr>
          <a:xfrm>
            <a:off x="6245352" y="4617720"/>
            <a:ext cx="5486400" cy="1508760"/>
          </a:xfrm>
          <a:prstGeom prst="roundRect">
            <a:avLst>
              <a:gd name="adj" fmla="val 7273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1" name="Image placeholder text"/>
          <p:cNvSpPr txBox="1"/>
          <p:nvPr/>
        </p:nvSpPr>
        <p:spPr>
          <a:xfrm>
            <a:off x="6245352" y="4617720"/>
            <a:ext cx="5486400" cy="150876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/>
            <a:endParaRPr lang="en-US" sz="800" dirty="0">
              <a:solidFill>
                <a:srgbClr val="F5F9FF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3D57EF-8F20-F7CD-A69B-3D79410EC52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4648200"/>
            <a:ext cx="5486400" cy="990600"/>
          </a:xfrm>
          <a:prstGeom prst="rect">
            <a:avLst/>
          </a:prstGeom>
          <a:ln w="13970">
            <a:solidFill>
              <a:srgbClr val="337DFF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6213D4F-2597-B05E-46E6-3323B039FAF2}"/>
              </a:ext>
            </a:extLst>
          </p:cNvPr>
          <p:cNvSpPr txBox="1"/>
          <p:nvPr/>
        </p:nvSpPr>
        <p:spPr>
          <a:xfrm>
            <a:off x="6248400" y="5715000"/>
            <a:ext cx="54864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97C2FF"/>
                </a:solidFill>
              </a:rPr>
              <a:t>SYNORA workspace: analysis complete, grounded, and ready for inspection.</a:t>
            </a:r>
            <a:endParaRPr lang="en-IN" sz="800">
              <a:solidFill>
                <a:srgbClr val="97C2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/>
            <a:r>
              <a:rPr lang="en-US" sz="2800" b="1" kern="0" spc="200">
                <a:solidFill>
                  <a:srgbClr val="F5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2800" dirty="0">
              <a:solidFill>
                <a:srgbClr val="F5F9FF"/>
              </a:solidFill>
            </a:endParaRPr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/>
            <a:r>
              <a:rPr lang="en-US" sz="10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BINDERS  |  UV19W 67A</a:t>
            </a:r>
            <a:endParaRPr lang="en-US" sz="1000" dirty="0">
              <a:solidFill>
                <a:srgbClr val="F5F9FF"/>
              </a:solidFill>
            </a:endParaRPr>
          </a:p>
        </p:txBody>
      </p:sp>
      <p:sp>
        <p:nvSpPr>
          <p:cNvPr id="4" name="Architecture card"/>
          <p:cNvSpPr/>
          <p:nvPr/>
        </p:nvSpPr>
        <p:spPr>
          <a:xfrm>
            <a:off x="457200" y="1691640"/>
            <a:ext cx="5486400" cy="4434840"/>
          </a:xfrm>
          <a:prstGeom prst="roundRect">
            <a:avLst>
              <a:gd name="adj" fmla="val 2474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Arch head"/>
          <p:cNvSpPr txBox="1"/>
          <p:nvPr/>
        </p:nvSpPr>
        <p:spPr>
          <a:xfrm>
            <a:off x="731520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6" name="Arch body"/>
          <p:cNvSpPr txBox="1"/>
          <p:nvPr/>
        </p:nvSpPr>
        <p:spPr>
          <a:xfrm>
            <a:off x="731520" y="228600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600"/>
              </a:spcAft>
              <a:buSzPct val="100000"/>
            </a:pPr>
            <a:endParaRPr lang="en-US" sz="1000" dirty="0">
              <a:solidFill>
                <a:srgbClr val="F5F9FF"/>
              </a:solidFill>
            </a:endParaRPr>
          </a:p>
        </p:txBody>
      </p:sp>
      <p:sp>
        <p:nvSpPr>
          <p:cNvPr id="7" name="Tech card"/>
          <p:cNvSpPr/>
          <p:nvPr/>
        </p:nvSpPr>
        <p:spPr>
          <a:xfrm>
            <a:off x="6245352" y="169164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Tech head"/>
          <p:cNvSpPr txBox="1"/>
          <p:nvPr/>
        </p:nvSpPr>
        <p:spPr>
          <a:xfrm>
            <a:off x="6519672" y="1874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TECHNOLOGIES</a:t>
            </a:r>
            <a:endParaRPr lang="en-US" sz="1500" dirty="0"/>
          </a:p>
        </p:txBody>
      </p:sp>
      <p:sp>
        <p:nvSpPr>
          <p:cNvPr id="9" name="Tech body"/>
          <p:cNvSpPr txBox="1"/>
          <p:nvPr/>
        </p:nvSpPr>
        <p:spPr>
          <a:xfrm>
            <a:off x="6519672" y="22860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React 19 + TypeScript + Vite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Express backend with server-side OAuth routes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Three.js / OrbitControls knowledge graph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AlaSQL in-browser read-only analysis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XLSX, CSV, JSON, PDF, PPTX and DOCX ingestion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Optional Gemini endpoints for OCR / model assistance</a:t>
            </a:r>
            <a:endParaRPr lang="en-US" sz="1100" dirty="0">
              <a:solidFill>
                <a:srgbClr val="F5F9FF"/>
              </a:solidFill>
            </a:endParaRPr>
          </a:p>
        </p:txBody>
      </p:sp>
      <p:sp>
        <p:nvSpPr>
          <p:cNvPr id="10" name="Unique card"/>
          <p:cNvSpPr/>
          <p:nvPr/>
        </p:nvSpPr>
        <p:spPr>
          <a:xfrm>
            <a:off x="6245352" y="402336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1" name="Unique head"/>
          <p:cNvSpPr txBox="1"/>
          <p:nvPr/>
        </p:nvSpPr>
        <p:spPr>
          <a:xfrm>
            <a:off x="6519672" y="4206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POINTS</a:t>
            </a:r>
            <a:endParaRPr lang="en-US" sz="1500" dirty="0"/>
          </a:p>
        </p:txBody>
      </p:sp>
      <p:sp>
        <p:nvSpPr>
          <p:cNvPr id="12" name="Unique body"/>
          <p:cNvSpPr txBox="1"/>
          <p:nvPr/>
        </p:nvSpPr>
        <p:spPr>
          <a:xfrm>
            <a:off x="6519672" y="46177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Closed-world answers grounded in uploaded data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Query safety and role-aware access checks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Validation records, SQL, result rows, and citations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Explicit abstention when evidence is insufficient</a:t>
            </a:r>
            <a:endParaRPr lang="en-US" sz="1100" dirty="0">
              <a:solidFill>
                <a:srgbClr val="F5F9FF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4685121-28B3-F897-EFC7-5D5456B80F9B}"/>
              </a:ext>
            </a:extLst>
          </p:cNvPr>
          <p:cNvSpPr/>
          <p:nvPr/>
        </p:nvSpPr>
        <p:spPr>
          <a:xfrm>
            <a:off x="1117600" y="2311400"/>
            <a:ext cx="3810000" cy="317500"/>
          </a:xfrm>
          <a:prstGeom prst="roundRect">
            <a:avLst/>
          </a:prstGeom>
          <a:solidFill>
            <a:srgbClr val="0D225C">
              <a:alpha val="92000"/>
            </a:srgbClr>
          </a:solidFill>
          <a:ln w="12700">
            <a:solidFill>
              <a:srgbClr val="479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rgbClr val="EBF4FF"/>
                </a:solidFill>
              </a:rPr>
              <a:t>Data source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075FF7B-8885-135B-FE51-DB21A0880E98}"/>
              </a:ext>
            </a:extLst>
          </p:cNvPr>
          <p:cNvCxnSpPr/>
          <p:nvPr/>
        </p:nvCxnSpPr>
        <p:spPr>
          <a:xfrm>
            <a:off x="3022600" y="2628900"/>
            <a:ext cx="0" cy="88900"/>
          </a:xfrm>
          <a:prstGeom prst="straightConnector1">
            <a:avLst/>
          </a:prstGeom>
          <a:ln w="15240">
            <a:solidFill>
              <a:srgbClr val="47EA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754F790-BDBC-204B-5B6B-D774D15F4D77}"/>
              </a:ext>
            </a:extLst>
          </p:cNvPr>
          <p:cNvSpPr/>
          <p:nvPr/>
        </p:nvSpPr>
        <p:spPr>
          <a:xfrm>
            <a:off x="1117600" y="2806700"/>
            <a:ext cx="3810000" cy="317500"/>
          </a:xfrm>
          <a:prstGeom prst="roundRect">
            <a:avLst/>
          </a:prstGeom>
          <a:solidFill>
            <a:srgbClr val="0D225C">
              <a:alpha val="92000"/>
            </a:srgbClr>
          </a:solidFill>
          <a:ln w="12700">
            <a:solidFill>
              <a:srgbClr val="479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rgbClr val="EBF4FF"/>
                </a:solidFill>
              </a:rPr>
              <a:t>Schema + profile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A19E2E1-EF4A-1A1C-C7D3-772E1310BF2B}"/>
              </a:ext>
            </a:extLst>
          </p:cNvPr>
          <p:cNvCxnSpPr/>
          <p:nvPr/>
        </p:nvCxnSpPr>
        <p:spPr>
          <a:xfrm>
            <a:off x="3022600" y="3124200"/>
            <a:ext cx="0" cy="88900"/>
          </a:xfrm>
          <a:prstGeom prst="straightConnector1">
            <a:avLst/>
          </a:prstGeom>
          <a:ln w="15240">
            <a:solidFill>
              <a:srgbClr val="47EA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ADE58C3-5963-9170-5F02-E466A39DF7E5}"/>
              </a:ext>
            </a:extLst>
          </p:cNvPr>
          <p:cNvSpPr/>
          <p:nvPr/>
        </p:nvSpPr>
        <p:spPr>
          <a:xfrm>
            <a:off x="1117600" y="3302000"/>
            <a:ext cx="3810000" cy="317500"/>
          </a:xfrm>
          <a:prstGeom prst="roundRect">
            <a:avLst/>
          </a:prstGeom>
          <a:solidFill>
            <a:srgbClr val="0D225C">
              <a:alpha val="92000"/>
            </a:srgbClr>
          </a:solidFill>
          <a:ln w="12700">
            <a:solidFill>
              <a:srgbClr val="479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rgbClr val="EBF4FF"/>
                </a:solidFill>
              </a:rPr>
              <a:t>Question to SQL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08291D8-3C30-809F-92EE-B35C85B1C802}"/>
              </a:ext>
            </a:extLst>
          </p:cNvPr>
          <p:cNvCxnSpPr/>
          <p:nvPr/>
        </p:nvCxnSpPr>
        <p:spPr>
          <a:xfrm>
            <a:off x="3022600" y="3619500"/>
            <a:ext cx="0" cy="88900"/>
          </a:xfrm>
          <a:prstGeom prst="straightConnector1">
            <a:avLst/>
          </a:prstGeom>
          <a:ln w="15240">
            <a:solidFill>
              <a:srgbClr val="47EA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692A45D-952B-949C-5186-F3BF0D5A7A6E}"/>
              </a:ext>
            </a:extLst>
          </p:cNvPr>
          <p:cNvSpPr/>
          <p:nvPr/>
        </p:nvSpPr>
        <p:spPr>
          <a:xfrm>
            <a:off x="1117600" y="3797300"/>
            <a:ext cx="3810000" cy="317500"/>
          </a:xfrm>
          <a:prstGeom prst="roundRect">
            <a:avLst/>
          </a:prstGeom>
          <a:solidFill>
            <a:srgbClr val="0D225C">
              <a:alpha val="92000"/>
            </a:srgbClr>
          </a:solidFill>
          <a:ln w="12700">
            <a:solidFill>
              <a:srgbClr val="479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rgbClr val="EBF4FF"/>
                </a:solidFill>
              </a:rPr>
              <a:t>Policy gate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764774B-5E2D-49E3-6D91-9DD2EEEC5B83}"/>
              </a:ext>
            </a:extLst>
          </p:cNvPr>
          <p:cNvCxnSpPr/>
          <p:nvPr/>
        </p:nvCxnSpPr>
        <p:spPr>
          <a:xfrm>
            <a:off x="3022600" y="4114800"/>
            <a:ext cx="0" cy="88900"/>
          </a:xfrm>
          <a:prstGeom prst="straightConnector1">
            <a:avLst/>
          </a:prstGeom>
          <a:ln w="15240">
            <a:solidFill>
              <a:srgbClr val="47EA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A1AF927-153F-4D98-8B29-469FC9AA4963}"/>
              </a:ext>
            </a:extLst>
          </p:cNvPr>
          <p:cNvSpPr/>
          <p:nvPr/>
        </p:nvSpPr>
        <p:spPr>
          <a:xfrm>
            <a:off x="1117600" y="4292600"/>
            <a:ext cx="3810000" cy="317500"/>
          </a:xfrm>
          <a:prstGeom prst="roundRect">
            <a:avLst/>
          </a:prstGeom>
          <a:solidFill>
            <a:srgbClr val="0D225C">
              <a:alpha val="92000"/>
            </a:srgbClr>
          </a:solidFill>
          <a:ln w="12700">
            <a:solidFill>
              <a:srgbClr val="479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rgbClr val="EBF4FF"/>
                </a:solidFill>
              </a:rPr>
              <a:t>Read-only run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0EE6FB5-2792-D875-2857-C1445C7F8613}"/>
              </a:ext>
            </a:extLst>
          </p:cNvPr>
          <p:cNvCxnSpPr/>
          <p:nvPr/>
        </p:nvCxnSpPr>
        <p:spPr>
          <a:xfrm>
            <a:off x="3022600" y="4610100"/>
            <a:ext cx="0" cy="88900"/>
          </a:xfrm>
          <a:prstGeom prst="straightConnector1">
            <a:avLst/>
          </a:prstGeom>
          <a:ln w="15240">
            <a:solidFill>
              <a:srgbClr val="47EA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6BB4EA2-102C-14D9-2EAD-11194E2CE722}"/>
              </a:ext>
            </a:extLst>
          </p:cNvPr>
          <p:cNvSpPr/>
          <p:nvPr/>
        </p:nvSpPr>
        <p:spPr>
          <a:xfrm>
            <a:off x="1117600" y="4787900"/>
            <a:ext cx="3810000" cy="317500"/>
          </a:xfrm>
          <a:prstGeom prst="roundRect">
            <a:avLst/>
          </a:prstGeom>
          <a:solidFill>
            <a:srgbClr val="0D225C">
              <a:alpha val="92000"/>
            </a:srgbClr>
          </a:solidFill>
          <a:ln w="12700">
            <a:solidFill>
              <a:srgbClr val="479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rgbClr val="EBF4FF"/>
                </a:solidFill>
              </a:rPr>
              <a:t>Validate + evidence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81BE01D-479D-F56D-073A-BF12634FF91B}"/>
              </a:ext>
            </a:extLst>
          </p:cNvPr>
          <p:cNvSpPr/>
          <p:nvPr/>
        </p:nvSpPr>
        <p:spPr>
          <a:xfrm>
            <a:off x="1117600" y="5283200"/>
            <a:ext cx="3810000" cy="317500"/>
          </a:xfrm>
          <a:prstGeom prst="roundRect">
            <a:avLst/>
          </a:prstGeom>
          <a:solidFill>
            <a:srgbClr val="0D225C">
              <a:alpha val="92000"/>
            </a:srgbClr>
          </a:solidFill>
          <a:ln w="12700">
            <a:solidFill>
              <a:srgbClr val="4797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b="1">
                <a:solidFill>
                  <a:srgbClr val="EBF4FF"/>
                </a:solidFill>
              </a:rPr>
              <a:t>Answer / limitation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7A231F9-A040-F47E-3BC4-16986A03970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5562600"/>
            <a:ext cx="3810000" cy="482600"/>
          </a:xfrm>
          <a:prstGeom prst="rect">
            <a:avLst/>
          </a:prstGeom>
          <a:ln w="13970">
            <a:solidFill>
              <a:srgbClr val="337DFF"/>
            </a:solidFill>
          </a:ln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6924936-3FA0-29BE-9314-5DA78FF24181}"/>
              </a:ext>
            </a:extLst>
          </p:cNvPr>
          <p:cNvSpPr txBox="1"/>
          <p:nvPr/>
        </p:nvSpPr>
        <p:spPr>
          <a:xfrm>
            <a:off x="1117600" y="6070600"/>
            <a:ext cx="3810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800">
                <a:solidFill>
                  <a:srgbClr val="97C2FF"/>
                </a:solidFill>
              </a:rPr>
              <a:t>Verified workspace state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/>
            <a:r>
              <a:rPr lang="en-US" sz="2800" b="1" kern="0" spc="200">
                <a:solidFill>
                  <a:srgbClr val="F5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EXPERIENCE &amp; DESIGN</a:t>
            </a:r>
            <a:endParaRPr lang="en-US" sz="2800" dirty="0">
              <a:solidFill>
                <a:srgbClr val="F5F9FF"/>
              </a:solidFill>
            </a:endParaRPr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/>
            <a:r>
              <a:rPr lang="en-US" sz="10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BINDERS  |  UV19W 67A</a:t>
            </a:r>
            <a:endParaRPr lang="en-US" sz="1000" dirty="0">
              <a:solidFill>
                <a:srgbClr val="F5F9FF"/>
              </a:solidFill>
            </a:endParaRPr>
          </a:p>
        </p:txBody>
      </p:sp>
      <p:sp>
        <p:nvSpPr>
          <p:cNvPr id="4" name="UI card"/>
          <p:cNvSpPr/>
          <p:nvPr/>
        </p:nvSpPr>
        <p:spPr>
          <a:xfrm>
            <a:off x="457200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UI head"/>
          <p:cNvSpPr txBox="1"/>
          <p:nvPr/>
        </p:nvSpPr>
        <p:spPr>
          <a:xfrm>
            <a:off x="73152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</a:t>
            </a:r>
            <a:endParaRPr lang="en-US" sz="1500" dirty="0"/>
          </a:p>
        </p:txBody>
      </p:sp>
      <p:sp>
        <p:nvSpPr>
          <p:cNvPr id="6" name="UI body"/>
          <p:cNvSpPr txBox="1"/>
          <p:nvPr/>
        </p:nvSpPr>
        <p:spPr>
          <a:xfrm>
            <a:off x="731520" y="228600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600"/>
              </a:spcAft>
              <a:buSzPct val="100000"/>
            </a:pPr>
            <a:endParaRPr lang="en-US" sz="1000" dirty="0">
              <a:solidFill>
                <a:srgbClr val="F5F9FF"/>
              </a:solidFill>
            </a:endParaRPr>
          </a:p>
        </p:txBody>
      </p:sp>
      <p:sp>
        <p:nvSpPr>
          <p:cNvPr id="7" name="Flow card"/>
          <p:cNvSpPr/>
          <p:nvPr/>
        </p:nvSpPr>
        <p:spPr>
          <a:xfrm>
            <a:off x="4270248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Flow head"/>
          <p:cNvSpPr txBox="1"/>
          <p:nvPr/>
        </p:nvSpPr>
        <p:spPr>
          <a:xfrm>
            <a:off x="4544568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</a:t>
            </a:r>
            <a:endParaRPr lang="en-US" sz="1500" dirty="0"/>
          </a:p>
        </p:txBody>
      </p:sp>
      <p:sp>
        <p:nvSpPr>
          <p:cNvPr id="9" name="Flow dot 1"/>
          <p:cNvSpPr/>
          <p:nvPr/>
        </p:nvSpPr>
        <p:spPr>
          <a:xfrm>
            <a:off x="4544568" y="23317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44568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2286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/>
            <a:r>
              <a:rPr lang="en-US" sz="12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or upload</a:t>
            </a:r>
            <a:endParaRPr lang="en-US" sz="1200" dirty="0">
              <a:solidFill>
                <a:srgbClr val="F5F9FF"/>
              </a:solidFill>
            </a:endParaRPr>
          </a:p>
        </p:txBody>
      </p:sp>
      <p:sp>
        <p:nvSpPr>
          <p:cNvPr id="12" name="Flow dot 2"/>
          <p:cNvSpPr/>
          <p:nvPr/>
        </p:nvSpPr>
        <p:spPr>
          <a:xfrm>
            <a:off x="4544568" y="3520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44568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/>
            <a:r>
              <a:rPr lang="en-US" sz="12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and analyse</a:t>
            </a:r>
            <a:endParaRPr lang="en-US" sz="1200" dirty="0">
              <a:solidFill>
                <a:srgbClr val="F5F9FF"/>
              </a:solidFill>
            </a:endParaRPr>
          </a:p>
        </p:txBody>
      </p:sp>
      <p:sp>
        <p:nvSpPr>
          <p:cNvPr id="15" name="Flow dot 3"/>
          <p:cNvSpPr/>
          <p:nvPr/>
        </p:nvSpPr>
        <p:spPr>
          <a:xfrm>
            <a:off x="4544568" y="4709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44568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46634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/>
            <a:r>
              <a:rPr lang="en-US" sz="12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and understand</a:t>
            </a:r>
            <a:endParaRPr lang="en-US" sz="1200" dirty="0">
              <a:solidFill>
                <a:srgbClr val="F5F9FF"/>
              </a:solidFill>
            </a:endParaRPr>
          </a:p>
        </p:txBody>
      </p:sp>
      <p:sp>
        <p:nvSpPr>
          <p:cNvPr id="18" name="Goal card"/>
          <p:cNvSpPr/>
          <p:nvPr/>
        </p:nvSpPr>
        <p:spPr>
          <a:xfrm>
            <a:off x="8074152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9" name="Goal head"/>
          <p:cNvSpPr txBox="1"/>
          <p:nvPr/>
        </p:nvSpPr>
        <p:spPr>
          <a:xfrm>
            <a:off x="8348472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GOAL</a:t>
            </a:r>
            <a:endParaRPr lang="en-US" sz="1500" dirty="0"/>
          </a:p>
        </p:txBody>
      </p:sp>
      <p:sp>
        <p:nvSpPr>
          <p:cNvPr id="20" name="Goal body"/>
          <p:cNvSpPr txBox="1"/>
          <p:nvPr/>
        </p:nvSpPr>
        <p:spPr>
          <a:xfrm>
            <a:off x="8348472" y="22860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/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trustworthy data analysis understandable for people who do not write SQL.</a:t>
            </a:r>
          </a:p>
          <a:p>
            <a:pPr marL="0" indent="0"/>
            <a:endParaRPr lang="en-US" sz="1100">
              <a:solidFill>
                <a:srgbClr val="F5F9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/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prototype combines guided upload, natural-language questions, transparent query history, evidence panels, graph exploration, theme options, and persistent sound controls.</a:t>
            </a:r>
            <a:endParaRPr lang="en-US" sz="1100" dirty="0">
              <a:solidFill>
                <a:srgbClr val="F5F9FF"/>
              </a:solidFill>
            </a:endParaRPr>
          </a:p>
        </p:txBody>
      </p:sp>
      <p:sp>
        <p:nvSpPr>
          <p:cNvPr id="21" name="Wireframe placeholder"/>
          <p:cNvSpPr txBox="1"/>
          <p:nvPr/>
        </p:nvSpPr>
        <p:spPr>
          <a:xfrm>
            <a:off x="8348472" y="420624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>
            <a:noAutofit/>
          </a:bodyPr>
          <a:lstStyle/>
          <a:p>
            <a:pPr marL="0" indent="0" algn="ctr"/>
            <a:endParaRPr lang="en-US" sz="1000" dirty="0">
              <a:solidFill>
                <a:srgbClr val="F5F9FF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2C554DB-577F-3B36-0D03-2EC6BE8B8ED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0" y="2336800"/>
            <a:ext cx="2857500" cy="533400"/>
          </a:xfrm>
          <a:prstGeom prst="rect">
            <a:avLst/>
          </a:prstGeom>
          <a:ln w="13970">
            <a:solidFill>
              <a:srgbClr val="337DFF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566D7AC-BF87-BD92-95E2-250E474BA61C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977900" y="2984500"/>
            <a:ext cx="838200" cy="2514600"/>
          </a:xfrm>
          <a:prstGeom prst="rect">
            <a:avLst/>
          </a:prstGeom>
          <a:ln w="13970">
            <a:solidFill>
              <a:srgbClr val="337DFF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856A0AE-0615-47C8-6F35-C204CDC3C878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917700" y="2984500"/>
            <a:ext cx="1549400" cy="1143000"/>
          </a:xfrm>
          <a:prstGeom prst="rect">
            <a:avLst/>
          </a:prstGeom>
          <a:ln w="13970">
            <a:solidFill>
              <a:srgbClr val="337DFF"/>
            </a:solidFill>
          </a:ln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C6095D0-A08F-AEF2-DEFA-84CE6963F10A}"/>
              </a:ext>
            </a:extLst>
          </p:cNvPr>
          <p:cNvSpPr txBox="1"/>
          <p:nvPr/>
        </p:nvSpPr>
        <p:spPr>
          <a:xfrm>
            <a:off x="863600" y="5651500"/>
            <a:ext cx="28575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97C2FF"/>
                </a:solidFill>
              </a:rPr>
              <a:t>Workspace navigation, insights, relational tables, and persistent audio control.</a:t>
            </a:r>
            <a:endParaRPr lang="en-IN" sz="800">
              <a:solidFill>
                <a:srgbClr val="97C2FF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F6906DB-B4F0-68D3-41C1-0EB9396C306F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8509000" y="4318000"/>
            <a:ext cx="2768600" cy="1041400"/>
          </a:xfrm>
          <a:prstGeom prst="rect">
            <a:avLst/>
          </a:prstGeom>
          <a:ln w="13970">
            <a:solidFill>
              <a:srgbClr val="337DFF"/>
            </a:solidFill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E6248D2-C702-AEF6-91A3-F32BF1D0192E}"/>
              </a:ext>
            </a:extLst>
          </p:cNvPr>
          <p:cNvSpPr txBox="1"/>
          <p:nvPr/>
        </p:nvSpPr>
        <p:spPr>
          <a:xfrm>
            <a:off x="8509000" y="5384800"/>
            <a:ext cx="27686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97C2FF"/>
                </a:solidFill>
              </a:rPr>
              <a:t>Suggested questions in the labelled demo</a:t>
            </a:r>
            <a:endParaRPr lang="en-IN" sz="800">
              <a:solidFill>
                <a:srgbClr val="97C2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/>
            <a:r>
              <a:rPr lang="en-US" sz="2800" b="1" kern="0" spc="200">
                <a:solidFill>
                  <a:srgbClr val="F5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2800" dirty="0">
              <a:solidFill>
                <a:srgbClr val="F5F9FF"/>
              </a:solidFill>
            </a:endParaRPr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/>
            <a:r>
              <a:rPr lang="en-US" sz="10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BINDERS  |  UV19W 67A</a:t>
            </a:r>
            <a:endParaRPr lang="en-US" sz="1000" dirty="0">
              <a:solidFill>
                <a:srgbClr val="F5F9FF"/>
              </a:solidFill>
            </a:endParaRPr>
          </a:p>
        </p:txBody>
      </p:sp>
      <p:sp>
        <p:nvSpPr>
          <p:cNvPr id="4" name="Technical Feasibility card"/>
          <p:cNvSpPr/>
          <p:nvPr/>
        </p:nvSpPr>
        <p:spPr>
          <a:xfrm>
            <a:off x="457200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Technical Feasibility head"/>
          <p:cNvSpPr txBox="1"/>
          <p:nvPr/>
        </p:nvSpPr>
        <p:spPr>
          <a:xfrm>
            <a:off x="73152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</a:t>
            </a:r>
            <a:endParaRPr lang="en-US" sz="1500" dirty="0"/>
          </a:p>
        </p:txBody>
      </p:sp>
      <p:sp>
        <p:nvSpPr>
          <p:cNvPr id="6" name="Technical Feasibility body"/>
          <p:cNvSpPr txBox="1"/>
          <p:nvPr/>
        </p:nvSpPr>
        <p:spPr>
          <a:xfrm>
            <a:off x="731520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Existing React / TypeScript application with Express entry point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Modular ingestion, profiling, query, evidence, and graph services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Browser-local AlaSQL keeps the demo reproducible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Deployable as a Node server with Vite production assets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Secrets remain server-side for optional providers</a:t>
            </a:r>
            <a:endParaRPr lang="en-US" sz="1100" dirty="0">
              <a:solidFill>
                <a:srgbClr val="F5F9FF"/>
              </a:solidFill>
            </a:endParaRPr>
          </a:p>
        </p:txBody>
      </p:sp>
      <p:sp>
        <p:nvSpPr>
          <p:cNvPr id="7" name="Economic Feasibility card"/>
          <p:cNvSpPr/>
          <p:nvPr/>
        </p:nvSpPr>
        <p:spPr>
          <a:xfrm>
            <a:off x="4270248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Economic Feasibility head"/>
          <p:cNvSpPr txBox="1"/>
          <p:nvPr/>
        </p:nvSpPr>
        <p:spPr>
          <a:xfrm>
            <a:off x="4544568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FEASIBILITY</a:t>
            </a:r>
            <a:endParaRPr lang="en-US" sz="1500" dirty="0"/>
          </a:p>
        </p:txBody>
      </p:sp>
      <p:sp>
        <p:nvSpPr>
          <p:cNvPr id="9" name="Economic Feasibility body"/>
          <p:cNvSpPr txBox="1"/>
          <p:nvPr/>
        </p:nvSpPr>
        <p:spPr>
          <a:xfrm>
            <a:off x="4544568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Prototype uses open-source libraries already in the stack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Main variable costs are optional model inference, OCR, storage, and hosting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Early deployment can use a labelled institutional pilot workspace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Commercial pricing is intentionally not claimed yet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Cost validation requires real usage assumptions</a:t>
            </a:r>
            <a:endParaRPr lang="en-US" sz="1100" dirty="0">
              <a:solidFill>
                <a:srgbClr val="F5F9FF"/>
              </a:solidFill>
            </a:endParaRPr>
          </a:p>
        </p:txBody>
      </p:sp>
      <p:sp>
        <p:nvSpPr>
          <p:cNvPr id="10" name="Operational Viability card"/>
          <p:cNvSpPr/>
          <p:nvPr/>
        </p:nvSpPr>
        <p:spPr>
          <a:xfrm>
            <a:off x="8083296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1" name="Operational Viability head"/>
          <p:cNvSpPr txBox="1"/>
          <p:nvPr/>
        </p:nvSpPr>
        <p:spPr>
          <a:xfrm>
            <a:off x="8357616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VIABILITY</a:t>
            </a:r>
            <a:endParaRPr lang="en-US" sz="1500" dirty="0"/>
          </a:p>
        </p:txBody>
      </p:sp>
      <p:sp>
        <p:nvSpPr>
          <p:cNvPr id="12" name="Operational Viability body"/>
          <p:cNvSpPr txBox="1"/>
          <p:nvPr/>
        </p:nvSpPr>
        <p:spPr>
          <a:xfrm>
            <a:off x="8357616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Messy files and ambiguous questions remain real risks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Mitigations: bounded queries, role checks, validation, citations, and abstention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OAuth requires provider-console credentials and exact callbacks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Large-document and scanned-PDF processing may need optional model services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Monitor failures rather than masking them</a:t>
            </a:r>
            <a:endParaRPr lang="en-US" sz="1100" dirty="0">
              <a:solidFill>
                <a:srgbClr val="F5F9FF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C379885-E00B-845D-E083-4FA24D878EF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445500" y="4953000"/>
            <a:ext cx="2794000" cy="914400"/>
          </a:xfrm>
          <a:prstGeom prst="rect">
            <a:avLst/>
          </a:prstGeom>
          <a:ln w="13970">
            <a:solidFill>
              <a:srgbClr val="337DFF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C115AA6-CE26-E2A1-7047-041DC5AC8B69}"/>
              </a:ext>
            </a:extLst>
          </p:cNvPr>
          <p:cNvSpPr txBox="1"/>
          <p:nvPr/>
        </p:nvSpPr>
        <p:spPr>
          <a:xfrm>
            <a:off x="8445500" y="5892800"/>
            <a:ext cx="2794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97C2FF"/>
                </a:solidFill>
              </a:rPr>
              <a:t>Runtime evidence: extracted insights and tables</a:t>
            </a:r>
            <a:endParaRPr lang="en-IN" sz="800">
              <a:solidFill>
                <a:srgbClr val="97C2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/>
            <a:r>
              <a:rPr lang="en-US" sz="2800" b="1" kern="0" spc="200">
                <a:solidFill>
                  <a:srgbClr val="F5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2800" dirty="0">
              <a:solidFill>
                <a:srgbClr val="F5F9FF"/>
              </a:solidFill>
            </a:endParaRPr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/>
            <a:r>
              <a:rPr lang="en-US" sz="10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BINDERS  |  UV19W 67A</a:t>
            </a:r>
            <a:endParaRPr lang="en-US" sz="1000" dirty="0">
              <a:solidFill>
                <a:srgbClr val="F5F9FF"/>
              </a:solidFill>
            </a:endParaRPr>
          </a:p>
        </p:txBody>
      </p:sp>
      <p:sp>
        <p:nvSpPr>
          <p:cNvPr id="4" name="Social Impact card"/>
          <p:cNvSpPr/>
          <p:nvPr/>
        </p:nvSpPr>
        <p:spPr>
          <a:xfrm>
            <a:off x="457200" y="1691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Social Impact badge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ocial Impact head"/>
          <p:cNvSpPr txBox="1"/>
          <p:nvPr/>
        </p:nvSpPr>
        <p:spPr>
          <a:xfrm>
            <a:off x="155448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IMPACT</a:t>
            </a:r>
            <a:endParaRPr lang="en-US" sz="1500" dirty="0"/>
          </a:p>
        </p:txBody>
      </p:sp>
      <p:sp>
        <p:nvSpPr>
          <p:cNvPr id="8" name="Social Impact body"/>
          <p:cNvSpPr txBox="1"/>
          <p:nvPr/>
        </p:nvSpPr>
        <p:spPr>
          <a:xfrm>
            <a:off x="1554480" y="2514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/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Makes structured analysis more approachable for nontechnical users`r- Reduces dependence on manually writing SQL for supported questions`r- Encourages evidence inspection before decisions</a:t>
            </a:r>
            <a:endParaRPr lang="en-US" sz="1100" dirty="0">
              <a:solidFill>
                <a:srgbClr val="F5F9FF"/>
              </a:solidFill>
            </a:endParaRPr>
          </a:p>
        </p:txBody>
      </p:sp>
      <p:sp>
        <p:nvSpPr>
          <p:cNvPr id="9" name="Environmental Impact card"/>
          <p:cNvSpPr/>
          <p:nvPr/>
        </p:nvSpPr>
        <p:spPr>
          <a:xfrm>
            <a:off x="6099048" y="1691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0" name="Environmental Impact badge"/>
          <p:cNvSpPr/>
          <p:nvPr/>
        </p:nvSpPr>
        <p:spPr>
          <a:xfrm>
            <a:off x="6373368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7336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Environmental Impact head"/>
          <p:cNvSpPr txBox="1"/>
          <p:nvPr/>
        </p:nvSpPr>
        <p:spPr>
          <a:xfrm>
            <a:off x="7196328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IMPACT</a:t>
            </a:r>
            <a:endParaRPr lang="en-US" sz="1500" dirty="0"/>
          </a:p>
        </p:txBody>
      </p:sp>
      <p:sp>
        <p:nvSpPr>
          <p:cNvPr id="13" name="Environmental Impact body"/>
          <p:cNvSpPr txBox="1"/>
          <p:nvPr/>
        </p:nvSpPr>
        <p:spPr>
          <a:xfrm>
            <a:off x="7196328" y="2514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/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Reuses existing organizational data`r- Favors bounded, on-demand processing`r- Avoids claiming measured savings without a lifecycle study</a:t>
            </a:r>
            <a:endParaRPr lang="en-US" sz="1100" dirty="0">
              <a:solidFill>
                <a:srgbClr val="F5F9FF"/>
              </a:solidFill>
            </a:endParaRPr>
          </a:p>
        </p:txBody>
      </p:sp>
      <p:sp>
        <p:nvSpPr>
          <p:cNvPr id="14" name="Technical Impact card"/>
          <p:cNvSpPr/>
          <p:nvPr/>
        </p:nvSpPr>
        <p:spPr>
          <a:xfrm>
            <a:off x="457200" y="3977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5" name="Technical Impact badge"/>
          <p:cNvSpPr/>
          <p:nvPr/>
        </p:nvSpPr>
        <p:spPr>
          <a:xfrm>
            <a:off x="731520" y="4251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chnical Impact head"/>
          <p:cNvSpPr txBox="1"/>
          <p:nvPr/>
        </p:nvSpPr>
        <p:spPr>
          <a:xfrm>
            <a:off x="1554480" y="4343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IMPACT</a:t>
            </a:r>
            <a:endParaRPr lang="en-US" sz="1500" dirty="0"/>
          </a:p>
        </p:txBody>
      </p:sp>
      <p:sp>
        <p:nvSpPr>
          <p:cNvPr id="18" name="Technical Impact body"/>
          <p:cNvSpPr txBox="1"/>
          <p:nvPr/>
        </p:nvSpPr>
        <p:spPr>
          <a:xfrm>
            <a:off x="1554480" y="4800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/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Unifies schema discovery, execution, validation, and explanation`r- Makes query reasoning and source evidence inspectable`r- Treats missing evidence as a first-class result</a:t>
            </a:r>
            <a:endParaRPr lang="en-US" sz="1100" dirty="0">
              <a:solidFill>
                <a:srgbClr val="F5F9FF"/>
              </a:solidFill>
            </a:endParaRPr>
          </a:p>
        </p:txBody>
      </p:sp>
      <p:sp>
        <p:nvSpPr>
          <p:cNvPr id="19" name="Educational Impact card"/>
          <p:cNvSpPr/>
          <p:nvPr/>
        </p:nvSpPr>
        <p:spPr>
          <a:xfrm>
            <a:off x="6099048" y="39776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20" name="Educational Impact badge"/>
          <p:cNvSpPr/>
          <p:nvPr/>
        </p:nvSpPr>
        <p:spPr>
          <a:xfrm>
            <a:off x="6373368" y="4251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73368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Educational Impact head"/>
          <p:cNvSpPr txBox="1"/>
          <p:nvPr/>
        </p:nvSpPr>
        <p:spPr>
          <a:xfrm>
            <a:off x="7196328" y="4343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IMPACT</a:t>
            </a:r>
            <a:endParaRPr lang="en-US" sz="1500" dirty="0"/>
          </a:p>
        </p:txBody>
      </p:sp>
      <p:sp>
        <p:nvSpPr>
          <p:cNvPr id="23" name="Educational Impact body"/>
          <p:cNvSpPr txBox="1"/>
          <p:nvPr/>
        </p:nvSpPr>
        <p:spPr>
          <a:xfrm>
            <a:off x="7196328" y="480060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/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Shows users the SQL and result context`r- Supports guided exploration of structured data`r- Helps learners connect questions, evidence, and validation</a:t>
            </a:r>
            <a:endParaRPr lang="en-US" sz="1100" dirty="0">
              <a:solidFill>
                <a:srgbClr val="F5F9FF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DA1A018-6912-918E-E365-0C5F258B4DD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549400" y="3238500"/>
            <a:ext cx="4114800" cy="762000"/>
          </a:xfrm>
          <a:prstGeom prst="rect">
            <a:avLst/>
          </a:prstGeom>
          <a:ln w="13970">
            <a:solidFill>
              <a:srgbClr val="337DFF"/>
            </a:solidFill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56C7076-E0C1-6EC8-DFD2-45063232809A}"/>
              </a:ext>
            </a:extLst>
          </p:cNvPr>
          <p:cNvSpPr txBox="1"/>
          <p:nvPr/>
        </p:nvSpPr>
        <p:spPr>
          <a:xfrm>
            <a:off x="1549400" y="4025900"/>
            <a:ext cx="41148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97C2FF"/>
                </a:solidFill>
              </a:rPr>
              <a:t>Evidence starts with a visible question and a bounded workflow</a:t>
            </a:r>
            <a:endParaRPr lang="en-IN" sz="800">
              <a:solidFill>
                <a:srgbClr val="97C2FF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72B4932-FF47-E0AC-9026-3AE4108C7B4D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0" y="3238500"/>
            <a:ext cx="4114800" cy="762000"/>
          </a:xfrm>
          <a:prstGeom prst="rect">
            <a:avLst/>
          </a:prstGeom>
          <a:ln w="13970">
            <a:solidFill>
              <a:srgbClr val="337DFF"/>
            </a:solidFill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ED64335-6F92-09B7-7EC2-2A03A178B4F8}"/>
              </a:ext>
            </a:extLst>
          </p:cNvPr>
          <p:cNvSpPr txBox="1"/>
          <p:nvPr/>
        </p:nvSpPr>
        <p:spPr>
          <a:xfrm>
            <a:off x="7200900" y="4025900"/>
            <a:ext cx="41148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800">
                <a:solidFill>
                  <a:srgbClr val="97C2FF"/>
                </a:solidFill>
              </a:rPr>
              <a:t>A grounded workspace state is visible to the user</a:t>
            </a:r>
            <a:endParaRPr lang="en-IN" sz="800">
              <a:solidFill>
                <a:srgbClr val="97C2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/>
            <a:r>
              <a:rPr lang="en-US" sz="2800" b="1" kern="0" spc="200">
                <a:solidFill>
                  <a:srgbClr val="F5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 &amp; SUSTAINABILITY</a:t>
            </a:r>
            <a:endParaRPr lang="en-US" sz="2800" dirty="0">
              <a:solidFill>
                <a:srgbClr val="F5F9FF"/>
              </a:solidFill>
            </a:endParaRPr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/>
            <a:r>
              <a:rPr lang="en-US" sz="10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BINDERS  |  UV19W 67A</a:t>
            </a:r>
            <a:endParaRPr lang="en-US" sz="1000" dirty="0">
              <a:solidFill>
                <a:srgbClr val="F5F9FF"/>
              </a:solidFill>
            </a:endParaRPr>
          </a:p>
        </p:txBody>
      </p:sp>
      <p:sp>
        <p:nvSpPr>
          <p:cNvPr id="4" name="Users card"/>
          <p:cNvSpPr/>
          <p:nvPr/>
        </p:nvSpPr>
        <p:spPr>
          <a:xfrm>
            <a:off x="457200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Users head"/>
          <p:cNvSpPr txBox="1"/>
          <p:nvPr/>
        </p:nvSpPr>
        <p:spPr>
          <a:xfrm>
            <a:off x="73152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1500" dirty="0"/>
          </a:p>
        </p:txBody>
      </p:sp>
      <p:sp>
        <p:nvSpPr>
          <p:cNvPr id="6" name="Users body"/>
          <p:cNvSpPr txBox="1"/>
          <p:nvPr/>
        </p:nvSpPr>
        <p:spPr>
          <a:xfrm>
            <a:off x="731520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Educational institutions and academic departments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Analysts working with spreadsheets and structured data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Small and medium organisations with fragmented datasets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Teams needing a safer interface to existing databases</a:t>
            </a:r>
            <a:endParaRPr lang="en-US" sz="1100" dirty="0">
              <a:solidFill>
                <a:srgbClr val="F5F9FF"/>
              </a:solidFill>
            </a:endParaRPr>
          </a:p>
        </p:txBody>
      </p:sp>
      <p:sp>
        <p:nvSpPr>
          <p:cNvPr id="7" name="Revenue card"/>
          <p:cNvSpPr/>
          <p:nvPr/>
        </p:nvSpPr>
        <p:spPr>
          <a:xfrm>
            <a:off x="4270248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8" name="Rev head"/>
          <p:cNvSpPr txBox="1"/>
          <p:nvPr/>
        </p:nvSpPr>
        <p:spPr>
          <a:xfrm>
            <a:off x="4544568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COST MODEL</a:t>
            </a:r>
            <a:endParaRPr lang="en-US" sz="1500" dirty="0"/>
          </a:p>
        </p:txBody>
      </p:sp>
      <p:sp>
        <p:nvSpPr>
          <p:cNvPr id="9" name="Rev body"/>
          <p:cNvSpPr txBox="1"/>
          <p:nvPr/>
        </p:nvSpPr>
        <p:spPr>
          <a:xfrm>
            <a:off x="4544568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Free or limited pilot workspace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Paid team workspaces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Institutional / enterprise deployment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Optional managed inference or document processing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Revenue model requires validation with actual users</a:t>
            </a:r>
            <a:endParaRPr lang="en-US" sz="1100" dirty="0">
              <a:solidFill>
                <a:srgbClr val="F5F9FF"/>
              </a:solidFill>
            </a:endParaRPr>
          </a:p>
        </p:txBody>
      </p:sp>
      <p:sp>
        <p:nvSpPr>
          <p:cNvPr id="10" name="Sustain card"/>
          <p:cNvSpPr/>
          <p:nvPr/>
        </p:nvSpPr>
        <p:spPr>
          <a:xfrm>
            <a:off x="8074152" y="1691640"/>
            <a:ext cx="3657600" cy="4434840"/>
          </a:xfrm>
          <a:prstGeom prst="roundRect">
            <a:avLst>
              <a:gd name="adj" fmla="val 3000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11" name="Sus head"/>
          <p:cNvSpPr txBox="1"/>
          <p:nvPr/>
        </p:nvSpPr>
        <p:spPr>
          <a:xfrm>
            <a:off x="8348472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</a:t>
            </a:r>
            <a:endParaRPr lang="en-US" sz="1500" dirty="0"/>
          </a:p>
        </p:txBody>
      </p:sp>
      <p:sp>
        <p:nvSpPr>
          <p:cNvPr id="12" name="Sus body"/>
          <p:cNvSpPr txBox="1"/>
          <p:nvPr/>
        </p:nvSpPr>
        <p:spPr>
          <a:xfrm>
            <a:off x="8348472" y="2377440"/>
            <a:ext cx="3108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Reusable connectors and modular integrations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Configurable model providers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Fits existing organisational workflows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Expand support from observed user requirements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Keep the local-first demo reproducible</a:t>
            </a:r>
            <a:endParaRPr lang="en-US" sz="1100" dirty="0">
              <a:solidFill>
                <a:srgbClr val="F5F9FF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BD8E656-BC63-117F-ADCD-1B4670B1E27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87400" y="4635500"/>
            <a:ext cx="2921000" cy="952500"/>
          </a:xfrm>
          <a:prstGeom prst="rect">
            <a:avLst/>
          </a:prstGeom>
          <a:ln w="13970">
            <a:solidFill>
              <a:srgbClr val="337DFF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CFAC60C-5D88-02AE-73EC-E3DB22B8FB05}"/>
              </a:ext>
            </a:extLst>
          </p:cNvPr>
          <p:cNvSpPr txBox="1"/>
          <p:nvPr/>
        </p:nvSpPr>
        <p:spPr>
          <a:xfrm>
            <a:off x="787400" y="5613400"/>
            <a:ext cx="2921000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800">
                <a:solidFill>
                  <a:srgbClr val="97C2FF"/>
                </a:solidFill>
              </a:rPr>
              <a:t>Working SYNORA dashboard â€¢ synthetic 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601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/>
            <a:r>
              <a:rPr lang="en-US" sz="2800" b="1" kern="0" spc="200">
                <a:solidFill>
                  <a:srgbClr val="F5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2800" dirty="0">
              <a:solidFill>
                <a:srgbClr val="F5F9FF"/>
              </a:solidFill>
            </a:endParaRPr>
          </a:p>
        </p:txBody>
      </p:sp>
      <p:sp>
        <p:nvSpPr>
          <p:cNvPr id="3" name="Team tag"/>
          <p:cNvSpPr txBox="1"/>
          <p:nvPr/>
        </p:nvSpPr>
        <p:spPr>
          <a:xfrm>
            <a:off x="8503920" y="10972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/>
            <a:r>
              <a:rPr lang="en-US" sz="10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BINDERS  |  UV19W 67A</a:t>
            </a:r>
            <a:endParaRPr lang="en-US" sz="1000" dirty="0">
              <a:solidFill>
                <a:srgbClr val="F5F9FF"/>
              </a:solidFill>
            </a:endParaRPr>
          </a:p>
        </p:txBody>
      </p:sp>
      <p:sp>
        <p:nvSpPr>
          <p:cNvPr id="4" name="References card"/>
          <p:cNvSpPr/>
          <p:nvPr/>
        </p:nvSpPr>
        <p:spPr>
          <a:xfrm>
            <a:off x="457200" y="1691640"/>
            <a:ext cx="11274552" cy="4434840"/>
          </a:xfrm>
          <a:prstGeom prst="roundRect">
            <a:avLst>
              <a:gd name="adj" fmla="val 2474"/>
            </a:avLst>
          </a:prstGeom>
          <a:solidFill>
            <a:srgbClr val="0B1A4A">
              <a:alpha val="75000"/>
            </a:srgbClr>
          </a:solidFill>
          <a:ln w="12700">
            <a:solidFill>
              <a:srgbClr val="1E5BFF"/>
            </a:solidFill>
            <a:prstDash val="solid"/>
          </a:ln>
        </p:spPr>
      </p:sp>
      <p:sp>
        <p:nvSpPr>
          <p:cNvPr id="5" name="Ref head"/>
          <p:cNvSpPr txBox="1"/>
          <p:nvPr/>
        </p:nvSpPr>
        <p:spPr>
          <a:xfrm>
            <a:off x="731520" y="1874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4DA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TECH &amp; RESEARCH SOURCES</a:t>
            </a:r>
            <a:endParaRPr lang="en-US" sz="1500" dirty="0"/>
          </a:p>
        </p:txBody>
      </p:sp>
      <p:sp>
        <p:nvSpPr>
          <p:cNvPr id="6" name="Ref body"/>
          <p:cNvSpPr txBox="1"/>
          <p:nvPr/>
        </p:nvSpPr>
        <p:spPr>
          <a:xfrm>
            <a:off x="731520" y="2377440"/>
            <a:ext cx="10698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en-US" sz="8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
- HYPNEXIS26 AI-02: Data-Analyst Agent on Messy Databases (supplied brief)
Implemented stack
- React: https://react.dev/
- TypeScript: https://www.typescriptlang.org/
- Vite: https://vite.dev/
- Express: https://expressjs.com/
- Three.js: https://threejs.org/
- AlaSQL: https://github.com/AlaSQL/alasql
- SheetJS / XLSX: https://docs.sheetjs.com/
- pdf-parse: https://www.npmjs.com/package/pdf-parse
Optional integrations
- Google GenAI SDK: https://ai.google.dev/gemini-api/docs
- OAuth provider documentation supports server-side redirect configuration; real credentials were not present in this environment.
No benchmark or production-scale performance claim is made in this deck.</a:t>
            </a:r>
            <a:endParaRPr lang="en-US" sz="800" dirty="0">
              <a:solidFill>
                <a:srgbClr val="F5F9FF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CC4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YPNEXIS 26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4754880" cy="216377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297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/>
            <a:r>
              <a:rPr lang="en-US" sz="3800" b="1" kern="0" spc="400">
                <a:solidFill>
                  <a:srgbClr val="F5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SYNORA.</a:t>
            </a:r>
            <a:endParaRPr lang="en-US" sz="3800" dirty="0">
              <a:solidFill>
                <a:srgbClr val="F5F9FF"/>
              </a:solidFill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54864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/>
            <a:r>
              <a:rPr lang="en-US" sz="15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analysis. More trustworthy decisions.</a:t>
            </a:r>
          </a:p>
          <a:p>
            <a:pPr marL="0" indent="0"/>
            <a:endParaRPr lang="en-US" sz="1500">
              <a:solidFill>
                <a:srgbClr val="F5F9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/>
            <a:r>
              <a:rPr lang="en-US" sz="1500">
                <a:solidFill>
                  <a:srgbClr val="F5F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 BINDERS  |  UV19W 67A</a:t>
            </a:r>
            <a:endParaRPr lang="en-US" sz="1500" dirty="0">
              <a:solidFill>
                <a:srgbClr val="F5F9FF"/>
              </a:solidFill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54864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/>
            <a:r>
              <a:rPr lang="en-US" sz="900" b="1" kern="0" spc="500">
                <a:solidFill>
                  <a:srgbClr val="F5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Aviral Jain  |  9258950945</a:t>
            </a:r>
          </a:p>
          <a:p>
            <a:pPr marL="0" indent="0"/>
            <a:r>
              <a:rPr lang="en-US" sz="900" b="1" kern="0" spc="500">
                <a:solidFill>
                  <a:srgbClr val="F5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Amit Kumar Jha  |  9084658005</a:t>
            </a:r>
          </a:p>
          <a:p>
            <a:pPr marL="0" indent="0"/>
            <a:r>
              <a:rPr lang="en-US" sz="900" b="1" kern="0" spc="500">
                <a:solidFill>
                  <a:srgbClr val="F5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Niyati Joshi  |  7417159128</a:t>
            </a:r>
          </a:p>
          <a:p>
            <a:pPr marL="0" indent="0"/>
            <a:r>
              <a:rPr lang="en-US" sz="900" b="1" kern="0" spc="500">
                <a:solidFill>
                  <a:srgbClr val="F5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Asmi  |  9872893988</a:t>
            </a:r>
            <a:endParaRPr lang="en-US" sz="900" dirty="0">
              <a:solidFill>
                <a:srgbClr val="F5F9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ypnexis">
  <a:themeElements>
    <a:clrScheme name="Hypnexis">
      <a:dk1>
        <a:srgbClr val="040A20"/>
      </a:dk1>
      <a:lt1>
        <a:srgbClr val="FFFFFF"/>
      </a:lt1>
      <a:dk2>
        <a:srgbClr val="0B1A4A"/>
      </a:dk2>
      <a:lt2>
        <a:srgbClr val="CFE0FF"/>
      </a:lt2>
      <a:accent1>
        <a:srgbClr val="1E5BFF"/>
      </a:accent1>
      <a:accent2>
        <a:srgbClr val="4DA3FF"/>
      </a:accent2>
      <a:accent3>
        <a:srgbClr val="0A2A8F"/>
      </a:accent3>
      <a:accent4>
        <a:srgbClr val="9CC4FF"/>
      </a:accent4>
      <a:accent5>
        <a:srgbClr val="6C8CFF"/>
      </a:accent5>
      <a:accent6>
        <a:srgbClr val="00C2FF"/>
      </a:accent6>
      <a:hlink>
        <a:srgbClr val="4DA3FF"/>
      </a:hlink>
      <a:folHlink>
        <a:srgbClr val="9CC4FF"/>
      </a:folHlink>
    </a:clrScheme>
    <a:fontScheme name="Hypnexi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1008</Words>
  <Application>Microsoft Office PowerPoint</Application>
  <PresentationFormat>Widescreen</PresentationFormat>
  <Paragraphs>154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Hypnexis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HYPNEXIS 26 - Official Idea Presentation Template</dc:title>
  <dc:subject>PptxGenJS Presentation</dc:subject>
  <dc:creator>PptxGenJS</dc:creator>
  <cp:lastModifiedBy>Aviral Jain</cp:lastModifiedBy>
  <cp:revision>2</cp:revision>
  <dcterms:created xsi:type="dcterms:W3CDTF">2026-10-24T10:35:26Z</dcterms:created>
  <dcterms:modified xsi:type="dcterms:W3CDTF">2026-10-24T18:47:03Z</dcterms:modified>
</cp:coreProperties>
</file>